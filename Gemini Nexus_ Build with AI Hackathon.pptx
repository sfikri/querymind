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Fira Code"/>
      <p:regular r:id="rId20"/>
      <p:bold r:id="rId21"/>
    </p:embeddedFont>
    <p:embeddedFont>
      <p:font typeface="Orbitron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C44682-A61E-48D2-9CD6-F34C6D975EA9}">
  <a:tblStyle styleId="{D5C44682-A61E-48D2-9CD6-F34C6D975E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Code-regular.fntdata"/><Relationship Id="rId11" Type="http://schemas.openxmlformats.org/officeDocument/2006/relationships/slide" Target="slides/slide5.xml"/><Relationship Id="rId22" Type="http://schemas.openxmlformats.org/officeDocument/2006/relationships/font" Target="fonts/Orbitron-regular.fntdata"/><Relationship Id="rId10" Type="http://schemas.openxmlformats.org/officeDocument/2006/relationships/slide" Target="slides/slide4.xml"/><Relationship Id="rId21" Type="http://schemas.openxmlformats.org/officeDocument/2006/relationships/font" Target="fonts/FiraCode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rbitro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bec9c1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5bec9c13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bec9c13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5bec9c13e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5bec9c1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c5bec9c13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5bec9c13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5bec9c13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5bec9c13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c5bec9c13e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5bec9c13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5bec9c13e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5bec9c13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5bec9c13e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5bec9c13e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5bec9c13e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5bec9c13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5bec9c13e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12172950" cy="68389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37/50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702800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Montserrat"/>
                <a:ea typeface="Montserrat"/>
                <a:cs typeface="Montserrat"/>
                <a:sym typeface="Montserrat"/>
              </a:rPr>
              <a:t>THE_FINALE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5276" y="1140775"/>
            <a:ext cx="1158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00FF"/>
                </a:solidFill>
                <a:latin typeface="Orbitron"/>
                <a:ea typeface="Orbitron"/>
                <a:cs typeface="Orbitron"/>
                <a:sym typeface="Orbitron"/>
              </a:rPr>
              <a:t>THE BOSS RAID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2445700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Montserrat"/>
                <a:ea typeface="Montserrat"/>
                <a:cs typeface="Montserrat"/>
                <a:sym typeface="Montserrat"/>
              </a:rPr>
              <a:t>24-Hour Virtual Hackathon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3081113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9FF14"/>
                </a:solidFill>
                <a:latin typeface="Montserrat"/>
                <a:ea typeface="Montserrat"/>
                <a:cs typeface="Montserrat"/>
                <a:sym typeface="Montserrat"/>
              </a:rPr>
              <a:t>LVL. 10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05326" y="3650813"/>
            <a:ext cx="11581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GEMINI NEXUS</a:t>
            </a:r>
            <a:b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 THE AGENTVERSE</a:t>
            </a:r>
            <a:endParaRPr sz="4000"/>
          </a:p>
        </p:txBody>
      </p:sp>
      <p:sp>
        <p:nvSpPr>
          <p:cNvPr id="91" name="Google Shape;91;p13"/>
          <p:cNvSpPr txBox="1"/>
          <p:nvPr/>
        </p:nvSpPr>
        <p:spPr>
          <a:xfrm>
            <a:off x="884100" y="5218350"/>
            <a:ext cx="1042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FFFF"/>
                </a:solidFill>
                <a:latin typeface="Orbitron"/>
                <a:ea typeface="Orbitron"/>
                <a:cs typeface="Orbitron"/>
                <a:sym typeface="Orbitron"/>
              </a:rPr>
              <a:t>Build with AI Hackathon</a:t>
            </a:r>
            <a:endParaRPr sz="40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981600"/>
            <a:ext cx="6040726" cy="31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HACKATHON LOGISTICS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581025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38/50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80384" y="2873423"/>
            <a:ext cx="5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Time</a:t>
            </a: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350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2PM until 2PM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80384" y="3252785"/>
            <a:ext cx="5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Duration: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24 Hours High Intensity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80384" y="3681410"/>
            <a:ext cx="5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Theme: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Into the Agentverse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80384" y="4110035"/>
            <a:ext cx="5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Format: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Fully Online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80384" y="4557710"/>
            <a:ext cx="5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00FF"/>
                </a:solidFill>
                <a:latin typeface="Montserrat"/>
                <a:ea typeface="Montserrat"/>
                <a:cs typeface="Montserrat"/>
                <a:sym typeface="Montserrat"/>
              </a:rPr>
              <a:t>*Ramadan Edition: Schedule respects prayer and meal times.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80384" y="2489223"/>
            <a:ext cx="5717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Date: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March 14 – 15,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742300"/>
            <a:ext cx="11029950" cy="15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71525" y="961250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TRACK A: INTELLIGENCE BUREAU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81025" y="961250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39/50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28675" y="1989950"/>
            <a:ext cx="11061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STRATEGIC RESEARCH SWARM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28675" y="2390000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Focus: Gathering, synthesizing, and reasoning over unstructured data.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8675" y="2818625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Example: Medical Literature Synth — Summarizing rare-disease research + indexing trial PDFs.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4400425"/>
            <a:ext cx="11029950" cy="14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71525" y="361937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TRACK B: QUANTITATIVE FORGE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81025" y="3619375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28675" y="4648075"/>
            <a:ext cx="11061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AUTONOMOUS DATA SWARM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28675" y="5048125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Focus: Computational tasks using Python code execution for insights.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28675" y="5476750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Example: Fraud Detection Swarm — Reads CSVs + writes anomaly detection scripts.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362075"/>
            <a:ext cx="11029950" cy="153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TRACK C: OPERATIONS HUB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81025" y="581025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41/50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28675" y="1609725"/>
            <a:ext cx="11061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PROCESS AUTOMATION SWARM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28675" y="2009775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Focus: High-level orchestration and API interactions.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28675" y="2438400"/>
            <a:ext cx="1053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Example: Farm-to-Table Logistics — Monitoring inventory + sourcing delivery partners.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13" y="3886600"/>
            <a:ext cx="11029950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13" y="3152388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SUBMISSION: GITHUB PROTO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81013" y="3152388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81038" y="4086625"/>
            <a:ext cx="2000100" cy="2952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76288" y="4134250"/>
            <a:ext cx="18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DIRECTORY_STRUCTURE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-1712400" y="6259275"/>
            <a:ext cx="1561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Orbitron"/>
                <a:ea typeface="Orbitron"/>
                <a:cs typeface="Orbitron"/>
                <a:sym typeface="Orbitron"/>
              </a:rPr>
              <a:t>PLEASE DO NOT SHARE YOUR API KEY TO PUBLIC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183834"/>
            <a:ext cx="11029950" cy="191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71525" y="487356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THE MISSION REPORT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487356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43/50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76300" y="1436718"/>
            <a:ext cx="10439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Your README must include: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209675" y="1865343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257300" y="1865343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Project Title (Creative Name)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209675" y="2122518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257300" y="2122518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 Diagram (A2A Flow)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09675" y="2379693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257300" y="2379693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Agent Profiles (Role Descriptions)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209675" y="2636868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257300" y="2636868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Setup Instructions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98069"/>
            <a:ext cx="11029950" cy="16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71525" y="3436294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THE DEMO PROTOCOL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" y="3436294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876300" y="4424768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Max 1</a:t>
            </a:r>
            <a:r>
              <a:rPr lang="en-US" sz="1350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0 Seconds.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76300" y="4853393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Show "Thinking" logs!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76300" y="5282018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Upload to YouTube (Unlisted).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-1712400" y="6259275"/>
            <a:ext cx="1561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Orbitron"/>
                <a:ea typeface="Orbitron"/>
                <a:cs typeface="Orbitron"/>
                <a:sym typeface="Orbitron"/>
              </a:rPr>
              <a:t>PLEASE DO NOT SHARE YOUR API KEY TO PUBLIC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PROFESSIONAL JUDGING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81025" y="581025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45/50</a:t>
            </a:r>
            <a:endParaRPr/>
          </a:p>
        </p:txBody>
      </p:sp>
      <p:graphicFrame>
        <p:nvGraphicFramePr>
          <p:cNvPr id="171" name="Google Shape;171;p18"/>
          <p:cNvGraphicFramePr/>
          <p:nvPr/>
        </p:nvGraphicFramePr>
        <p:xfrm>
          <a:off x="581025" y="1331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{D5C44682-A61E-48D2-9CD6-F34C6D975EA9}</a:tableStyleId>
              </a:tblPr>
              <a:tblGrid>
                <a:gridCol w="4316025"/>
                <a:gridCol w="1558525"/>
                <a:gridCol w="5155400"/>
              </a:tblGrid>
              <a:tr h="4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Criteria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Weight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Focus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Agentic Agency &amp; Recovery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40%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Handling failures/reasoning traces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Technical Depth (ADK/MCP)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30%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Standard implementation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System Robustness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Safety guardrails/ADK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Docs &amp; Demo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10%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README/Diagram clarity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18"/>
          <p:cNvSpPr txBox="1"/>
          <p:nvPr/>
        </p:nvSpPr>
        <p:spPr>
          <a:xfrm>
            <a:off x="-1712400" y="6259275"/>
            <a:ext cx="1561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Orbitron"/>
                <a:ea typeface="Orbitron"/>
                <a:cs typeface="Orbitron"/>
                <a:sym typeface="Orbitron"/>
              </a:rPr>
              <a:t>PLEASE DO NOT SHARE YOUR API KEY TO PUBLIC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157387"/>
            <a:ext cx="5324474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3763" y="4115787"/>
            <a:ext cx="5324474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CERTIFICATION TIERS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81025" y="581025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46/50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76300" y="2452662"/>
            <a:ext cx="497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SESSION BADGES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76300" y="2852712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Awarded for verified LinkedIn Artifacts.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3729038" y="4411062"/>
            <a:ext cx="497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9FF14"/>
                </a:solidFill>
                <a:latin typeface="Orbitron"/>
                <a:ea typeface="Orbitron"/>
                <a:cs typeface="Orbitron"/>
                <a:sym typeface="Orbitron"/>
              </a:rPr>
              <a:t>MASTERY CERTIFICATE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3729038" y="4811112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Complete ALL 9 Quests + Hackathon Submission.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13" y="2157387"/>
            <a:ext cx="5324474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581788" y="2452662"/>
            <a:ext cx="497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F00FF"/>
                </a:solidFill>
                <a:latin typeface="Orbitron"/>
                <a:ea typeface="Orbitron"/>
                <a:cs typeface="Orbitron"/>
                <a:sym typeface="Orbitron"/>
              </a:rPr>
              <a:t>Hackathon </a:t>
            </a:r>
            <a:r>
              <a:rPr b="1" i="0" lang="en-US" sz="1404" u="none" cap="none" strike="noStrike">
                <a:solidFill>
                  <a:srgbClr val="FF00FF"/>
                </a:solidFill>
                <a:latin typeface="Orbitron"/>
                <a:ea typeface="Orbitron"/>
                <a:cs typeface="Orbitron"/>
                <a:sym typeface="Orbitron"/>
              </a:rPr>
              <a:t>CERTIFICATE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6581788" y="2852712"/>
            <a:ext cx="473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Hackathon Submission.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-1712400" y="6259275"/>
            <a:ext cx="1561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Orbitron"/>
                <a:ea typeface="Orbitron"/>
                <a:cs typeface="Orbitron"/>
                <a:sym typeface="Orbitron"/>
              </a:rPr>
              <a:t>PLEASE DO NOT SHARE YOUR API KEY TO PUBLIC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61787"/>
            <a:ext cx="1102995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E5FF"/>
                </a:solidFill>
                <a:latin typeface="Orbitron"/>
                <a:ea typeface="Orbitron"/>
                <a:cs typeface="Orbitron"/>
                <a:sym typeface="Orbitron"/>
              </a:rPr>
              <a:t>RULES &amp; ETHICS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81025" y="581025"/>
            <a:ext cx="95400" cy="495300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SLIDE_ID: 48/50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209675" y="2009462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257300" y="2009462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Solo Mission: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Individual mastery required.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209675" y="2266637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257300" y="2266637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Originality: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Plagiarism = Immediate Disqualification.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209675" y="2523812"/>
            <a:ext cx="47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257300" y="2523812"/>
            <a:ext cx="1005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Privacy:</a:t>
            </a:r>
            <a:r>
              <a:rPr b="0" i="0" lang="en-US" sz="1350" u="none" cap="none" strike="noStrike">
                <a:solidFill>
                  <a:srgbClr val="DDDDDD"/>
                </a:solidFill>
                <a:latin typeface="Montserrat"/>
                <a:ea typeface="Montserrat"/>
                <a:cs typeface="Montserrat"/>
                <a:sym typeface="Montserrat"/>
              </a:rPr>
              <a:t> Adhere to GDG Community Code of Conduct.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-1712400" y="6259275"/>
            <a:ext cx="1561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Orbitron"/>
                <a:ea typeface="Orbitron"/>
                <a:cs typeface="Orbitron"/>
                <a:sym typeface="Orbitron"/>
              </a:rPr>
              <a:t>PLEASE DO NOT SHARE YOUR API KEY TO PUBLIC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8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/>
        </p:nvSpPr>
        <p:spPr>
          <a:xfrm>
            <a:off x="581025" y="641032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GDG ON CAMPUS UTM MISSION_START: SLIDE_ID: 50/50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305276" y="1649250"/>
            <a:ext cx="115815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QUESTIONS?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29541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9FF14"/>
                </a:solidFill>
                <a:latin typeface="Montserrat"/>
                <a:ea typeface="Montserrat"/>
                <a:cs typeface="Montserrat"/>
                <a:sym typeface="Montserrat"/>
              </a:rPr>
              <a:t>ENTER THE MAZE. BUILD THE FUTURE.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